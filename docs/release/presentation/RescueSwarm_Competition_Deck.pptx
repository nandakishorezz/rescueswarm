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AUTONOMOUS EMERGENCY RESPONSE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RescueSwarm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62179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Autonomous Multi-Drone
Search, Survivor Geolocation &amp; Kit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26080"/>
            <a:ext cx="5120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32CDDC"/>
                </a:solidFill>
                <a:latin typeface="Cascadia Mono"/>
              </a:rPr>
              <a:t>SEARCH  •  DETECT  •  LOCATE  •  DELIVER  • 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657600"/>
            <a:ext cx="42976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A1B4C2"/>
                </a:solidFill>
                <a:latin typeface="Aptos"/>
              </a:rPr>
              <a:t>One operator. Multiple autonomous vehicles.
One coordinated rescue 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475488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4764024"/>
            <a:ext cx="13258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AUTONOMOUS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754880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4764024"/>
            <a:ext cx="123444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COLLABORATIVE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754880"/>
            <a:ext cx="914400" cy="256032"/>
          </a:xfrm>
          <a:prstGeom prst="roundRect">
            <a:avLst>
              <a:gd name="adj" fmla="val 8000"/>
            </a:avLst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764024"/>
            <a:ext cx="914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OFFLINE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7548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764024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EDGE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143000"/>
            <a:ext cx="4983480" cy="4663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389888"/>
            <a:ext cx="4297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1B4C2"/>
                </a:solidFill>
                <a:latin typeface="Cascadia Mono"/>
              </a:rPr>
              <a:t>CONCEPTUAL MISSION 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01168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242316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283464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24612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65760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406908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448056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4892040"/>
            <a:ext cx="443484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6092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6676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6968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7260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7552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7844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881360" y="2011680"/>
            <a:ext cx="0" cy="288036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16367" y="2532888"/>
            <a:ext cx="694945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0182" y="2313432"/>
            <a:ext cx="0" cy="416966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406640" y="242316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38160" y="242316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16367" y="282549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28431" y="282549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43139" y="2525572"/>
            <a:ext cx="256031" cy="18288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528048" y="3127248"/>
            <a:ext cx="694944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871862" y="2907791"/>
            <a:ext cx="0" cy="416967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418320" y="301752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49840" y="301752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28048" y="341985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40112" y="341985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54819" y="3119932"/>
            <a:ext cx="256031" cy="18288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533888" y="2258568"/>
            <a:ext cx="694944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877702" y="2039112"/>
            <a:ext cx="0" cy="416966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424160" y="214884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55680" y="2148840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33888" y="255117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45952" y="2551176"/>
            <a:ext cx="160934" cy="87782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760659" y="2251252"/>
            <a:ext cx="256031" cy="18288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72400" y="4297680"/>
            <a:ext cx="164592" cy="164592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7854696" y="4133088"/>
            <a:ext cx="237744" cy="246888"/>
          </a:xfrm>
          <a:prstGeom prst="line">
            <a:avLst/>
          </a:prstGeom>
          <a:ln w="12700">
            <a:solidFill>
              <a:srgbClr val="EB5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144000" y="3840480"/>
            <a:ext cx="164592" cy="164592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9226296" y="3675888"/>
            <a:ext cx="237744" cy="246888"/>
          </a:xfrm>
          <a:prstGeom prst="line">
            <a:avLst/>
          </a:prstGeom>
          <a:ln w="12700">
            <a:solidFill>
              <a:srgbClr val="EB5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515600" y="4343400"/>
            <a:ext cx="164592" cy="164592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0597896" y="4178808"/>
            <a:ext cx="237744" cy="246888"/>
          </a:xfrm>
          <a:prstGeom prst="line">
            <a:avLst/>
          </a:prstGeom>
          <a:ln w="12700">
            <a:solidFill>
              <a:srgbClr val="EB5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903720" y="5166360"/>
            <a:ext cx="4297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F5A33E"/>
                </a:solidFill>
                <a:latin typeface="Cascadia Mono"/>
              </a:rPr>
              <a:t>SIMULATION-STYLE CONCEPT • NOT PHYSICAL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The Rescue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9377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F2F7FA"/>
                </a:solidFill>
                <a:latin typeface="Aptos"/>
              </a:rPr>
              <a:t>Detection alone is not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663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A1B4C2"/>
                </a:solidFill>
                <a:latin typeface="Aptos"/>
              </a:rPr>
              <a:t>A rescue system must detect, locate, coordinate and respond under time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383280" cy="25146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45720" cy="2514600"/>
          </a:xfrm>
          <a:prstGeom prst="rect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054096"/>
            <a:ext cx="3108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B534C"/>
                </a:solidFill>
                <a:latin typeface="Cascadia Mono"/>
              </a:rPr>
              <a:t>CONVENTIONAL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37560"/>
            <a:ext cx="3108960" cy="1984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Large areas • manual search
Approximate visual sightings
Aid arrives after the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926080"/>
            <a:ext cx="3383280" cy="25146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2926080"/>
            <a:ext cx="45720" cy="251460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54096"/>
            <a:ext cx="3108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THE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3108960" cy="1984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One vehicle creates a coverage
and response constraint.
Connectivity may be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2926080"/>
            <a:ext cx="3383280" cy="25146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2926080"/>
            <a:ext cx="45720" cy="251460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054096"/>
            <a:ext cx="3108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THE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337560"/>
            <a:ext cx="3108960" cy="1984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Parallel search
Reliable survivor coordinates
Aid delivery before recovery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4160520"/>
            <a:ext cx="164592" cy="0"/>
          </a:xfrm>
          <a:prstGeom prst="line">
            <a:avLst/>
          </a:prstGeom>
          <a:ln w="25400">
            <a:solidFill>
              <a:srgbClr val="F5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178808" y="4087368"/>
            <a:ext cx="164592" cy="146304"/>
          </a:xfrm>
          <a:prstGeom prst="triangle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836408" y="4160520"/>
            <a:ext cx="164592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946136" y="4087368"/>
            <a:ext cx="164592" cy="146304"/>
          </a:xfrm>
          <a:prstGeom prst="triangle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32CDDC"/>
                </a:solidFill>
                <a:latin typeface="Cascadia Mono"/>
              </a:rPr>
              <a:t>THE OPPORTUNITY  /  TURN A FLEET INTO A COORDINATED RESCUE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RescueSwarm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From mission boundary to safely completed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BOUNDARY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91056" y="2724912"/>
            <a:ext cx="54863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591056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4792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7943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TAKEOFF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15768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715768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9504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PARALLEL
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840480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4215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DETECT +
CONFIRM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65192" y="2724912"/>
            <a:ext cx="54863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965192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38928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GEOLOCATE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9904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89904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ASSIGN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14616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214616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88352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1504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APPROACH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39328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339328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13063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6215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DELIVER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464039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9464039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37776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8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RESUME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588751" y="2724912"/>
            <a:ext cx="5486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10588751" y="26517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762488" y="2240280"/>
            <a:ext cx="932688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5640" y="2331720"/>
            <a:ext cx="7863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RTL / LAND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2F7FA"/>
                </a:solidFill>
                <a:latin typeface="Aptos"/>
              </a:rPr>
              <a:t>One operator supervises. The software executes the mission.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17320" y="48006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4800600"/>
            <a:ext cx="45720" cy="914400"/>
          </a:xfrm>
          <a:prstGeom prst="rect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81912" y="4928616"/>
            <a:ext cx="2606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408BFF"/>
                </a:solidFill>
                <a:latin typeface="Cascadia Mono"/>
              </a:rPr>
              <a:t>AUTONOMY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81912" y="5212080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After START, mission logic drives the fleet.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48006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3440" y="4800600"/>
            <a:ext cx="45720" cy="91440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28031" y="4928616"/>
            <a:ext cx="2606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COORDINATION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1" y="5212080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Shared targets, ownership and reallocation.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09560" y="48006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09560" y="4800600"/>
            <a:ext cx="45720" cy="91440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74152" y="4928616"/>
            <a:ext cx="2606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SAFETY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74152" y="5212080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Native RTL/LAND, geofence and recall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COMPETITION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Designed Around the Full Rescue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760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A software-scale rehearsal of the operating envelope.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28799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Search area up to approximately 10 hectares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13432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67712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Up to 10 survivors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52344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06624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2+ collaborative autonomous drones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91256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45536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Local / offline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301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584448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One operator / one GCS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79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023359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Autonomous operation after 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5074920" cy="429768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27632"/>
            <a:ext cx="4389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1B4C2"/>
                </a:solidFill>
                <a:latin typeface="Cascadia Mono"/>
              </a:rPr>
              <a:t>PARTITIONED SEARCH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148840"/>
            <a:ext cx="1389888" cy="2560320"/>
          </a:xfrm>
          <a:prstGeom prst="roundRect">
            <a:avLst>
              <a:gd name="adj" fmla="val 8000"/>
            </a:avLst>
          </a:prstGeom>
          <a:solidFill>
            <a:srgbClr val="172B42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408BFF"/>
                </a:solidFill>
                <a:latin typeface="Cascadia Mono"/>
              </a:rPr>
              <a:t>DRONE 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14616" y="2916936"/>
            <a:ext cx="521207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72476" y="2752344"/>
            <a:ext cx="0" cy="312724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132320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0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14616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98664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84694" y="2911449"/>
            <a:ext cx="192024" cy="137160"/>
          </a:xfrm>
          <a:prstGeom prst="roundRect">
            <a:avLst>
              <a:gd name="adj" fmla="val 8000"/>
            </a:avLst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02167" y="2148840"/>
            <a:ext cx="1389888" cy="2560320"/>
          </a:xfrm>
          <a:prstGeom prst="roundRect">
            <a:avLst>
              <a:gd name="adj" fmla="val 8000"/>
            </a:avLst>
          </a:prstGeom>
          <a:solidFill>
            <a:srgbClr val="1C2E46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2331720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32CDDC"/>
                </a:solidFill>
                <a:latin typeface="Cascadia Mono"/>
              </a:rPr>
              <a:t>DRONE 02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95944" y="2916936"/>
            <a:ext cx="521208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53804" y="2752344"/>
            <a:ext cx="0" cy="312724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613648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62288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95944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79992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66022" y="2911449"/>
            <a:ext cx="192024" cy="13716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83496" y="2148840"/>
            <a:ext cx="1389888" cy="2560320"/>
          </a:xfrm>
          <a:prstGeom prst="roundRect">
            <a:avLst>
              <a:gd name="adj" fmla="val 8000"/>
            </a:avLst>
          </a:prstGeom>
          <a:solidFill>
            <a:srgbClr val="21314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74936" y="2331720"/>
            <a:ext cx="1188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47DF1"/>
                </a:solidFill>
                <a:latin typeface="Cascadia Mono"/>
              </a:rPr>
              <a:t>DRONE 03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77272" y="2916936"/>
            <a:ext cx="521208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35132" y="2752344"/>
            <a:ext cx="0" cy="312724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094976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43615" y="2834640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77272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61319" y="3136392"/>
            <a:ext cx="120700" cy="65836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47350" y="2911449"/>
            <a:ext cx="192024" cy="137160"/>
          </a:xfrm>
          <a:prstGeom prst="roundRect">
            <a:avLst>
              <a:gd name="adj" fmla="val 8000"/>
            </a:avLst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86600" y="4709160"/>
            <a:ext cx="146304" cy="146304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503920" y="4389120"/>
            <a:ext cx="146304" cy="146304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875520" y="4754880"/>
            <a:ext cx="146304" cy="146304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07040" y="3474720"/>
            <a:ext cx="146304" cy="146304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94360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5A33E"/>
                </a:solidFill>
                <a:latin typeface="Cascadia Mono"/>
              </a:rPr>
              <a:t>DESIGNED TARGET • NOT CLAIMED AS COMPLETED PHYSICAL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3291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32CDDC"/>
                </a:solidFill>
                <a:latin typeface="Cascadia Mono"/>
              </a:rPr>
              <a:t>GROUND /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40480"/>
            <a:ext cx="3291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32CDDC"/>
                </a:solidFill>
                <a:latin typeface="Cascadia Mono"/>
              </a:rPr>
              <a:t>AIRBORNE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234440"/>
            <a:ext cx="2743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32CDDC"/>
                </a:solidFill>
                <a:latin typeface="Cascadia Mono"/>
              </a:rPr>
              <a:t>AUTOPILOT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691640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Raspberry Pi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199339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GCS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4328" y="160020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91640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React + TypeScript + 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99339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MapLibre • Three.js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160020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91640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99339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WebSocket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7" y="160020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1691640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PostgreSQL + PostGIS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399" y="199339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Fleet coordinator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59152" y="2020824"/>
            <a:ext cx="274320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2578608" y="1947672"/>
            <a:ext cx="164592" cy="146304"/>
          </a:xfrm>
          <a:prstGeom prst="triangle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325112" y="2020824"/>
            <a:ext cx="274320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544568" y="1947672"/>
            <a:ext cx="164592" cy="146304"/>
          </a:xfrm>
          <a:prstGeom prst="triangle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291072" y="2020824"/>
            <a:ext cx="274320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510528" y="1947672"/>
            <a:ext cx="164592" cy="146304"/>
          </a:xfrm>
          <a:prstGeom prst="triangle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16052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251959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Raspberry Pi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455371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Camera adapter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4328" y="416052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251959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Vision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55371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DetectorBackend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90288" y="416052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251959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Target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55371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Mission manager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56247" y="4160520"/>
            <a:ext cx="1664208" cy="841248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399" y="4251959"/>
            <a:ext cx="15179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Fleet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399" y="4553712"/>
            <a:ext cx="1517904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MAVLink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59152" y="4581144"/>
            <a:ext cx="274320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2578608" y="4507992"/>
            <a:ext cx="164592" cy="146304"/>
          </a:xfrm>
          <a:prstGeom prst="triangle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325112" y="4581144"/>
            <a:ext cx="274320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4544568" y="4507992"/>
            <a:ext cx="164592" cy="146304"/>
          </a:xfrm>
          <a:prstGeom prst="triangle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291072" y="4581144"/>
            <a:ext cx="274320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6510528" y="4507992"/>
            <a:ext cx="164592" cy="146304"/>
          </a:xfrm>
          <a:prstGeom prst="triangle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732520" y="16002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05672" y="1691640"/>
            <a:ext cx="2505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Pixhawk / ArduCopter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5672" y="1993392"/>
            <a:ext cx="2505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GNSS • IMU • EKF • RTL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30632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05672" y="3154680"/>
            <a:ext cx="2505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AUTO / GUIDED / RTL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5672" y="3456432"/>
            <a:ext cx="2505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Geofence • failsafes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32520" y="452628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05672" y="4617720"/>
            <a:ext cx="2505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Payload servo + motors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672" y="4919472"/>
            <a:ext cx="2505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MAVLink command path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83879" y="2011680"/>
            <a:ext cx="548641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83879" y="4572000"/>
            <a:ext cx="548641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977639" y="589788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1B4C2"/>
                </a:solidFill>
                <a:latin typeface="Cascadia Mono"/>
              </a:rPr>
              <a:t>LOCAL NETWORK ONLY  •  MAVLink  •  NO CLOUD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Autonomous Rescue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READY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190195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1956816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21992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144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TAKEOFF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7872" y="1901952"/>
            <a:ext cx="91439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584447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9624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SEARCH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75504" y="190195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212080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77256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0408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CANDIDATE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03136" y="190195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6839712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04888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CONFIRM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30768" y="190195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467344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32520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5672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GEOLOCATE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190195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10094976" y="182880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60152" y="160020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33304" y="169164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ASSIGN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43584" y="2194560"/>
            <a:ext cx="0" cy="685800"/>
          </a:xfrm>
          <a:prstGeom prst="line">
            <a:avLst/>
          </a:prstGeom>
          <a:ln w="127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APPROACH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20240" y="318211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1956816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21992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95144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REACQUIRE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47872" y="3182112"/>
            <a:ext cx="91439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3584447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49624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2776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ALIGN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75504" y="318211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5212080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77256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0408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DELIVER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03136" y="318211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6839712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04888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VERIFY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30768" y="318211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8467344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32520" y="288036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05672" y="2971800"/>
            <a:ext cx="11521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RESUME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058400" y="3182112"/>
            <a:ext cx="9144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10094976" y="310896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43000" y="461772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16152" y="4709159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MISSION COMPLETE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461772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30752" y="4709159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RTL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461772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5352" y="4709159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LAND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461772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59952" y="4709159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DISARM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332720" y="3547872"/>
            <a:ext cx="301752" cy="0"/>
          </a:xfrm>
          <a:prstGeom prst="line">
            <a:avLst/>
          </a:prstGeom>
          <a:ln w="25400">
            <a:solidFill>
              <a:srgbClr val="5BC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10579608" y="3474720"/>
            <a:ext cx="164592" cy="146304"/>
          </a:xfrm>
          <a:prstGeom prst="triangle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806440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EB534C"/>
                </a:solidFill>
                <a:latin typeface="Cascadia Mono"/>
              </a:rPr>
              <a:t>SAFETY PATHS: BATTERY • LINK • EKF • GEOFENCE • EMERGENCY RECALL  →  RTL / 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MULTI-DRONE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Fleet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F2F7FA"/>
                </a:solidFill>
                <a:latin typeface="Aptos"/>
              </a:rPr>
              <a:t>Central coordination. Independent vehicle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017520" cy="30175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45720" cy="30175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002536"/>
            <a:ext cx="2743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FLEETMISSIONCOORDINATOR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286000"/>
            <a:ext cx="2743200" cy="2487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Deterministic partitioning
Shared target registry
Duplicate merge
Transactional assignment
Emergency 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874519"/>
            <a:ext cx="3017520" cy="30175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874519"/>
            <a:ext cx="45720" cy="301752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2002536"/>
            <a:ext cx="2743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VEHICLERESCUEAGENT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286000"/>
            <a:ext cx="2743200" cy="2487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Independent autonomy
Own mission state
Own health and link
Delivery ownership
Safe recovery paths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508760"/>
            <a:ext cx="4114800" cy="36576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55648"/>
            <a:ext cx="35661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1B4C2"/>
                </a:solidFill>
                <a:latin typeface="Cascadia Mono"/>
              </a:rPr>
              <a:t>SHARED SEARCH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240280"/>
            <a:ext cx="1051560" cy="2148840"/>
          </a:xfrm>
          <a:prstGeom prst="roundRect">
            <a:avLst>
              <a:gd name="adj" fmla="val 8000"/>
            </a:avLst>
          </a:prstGeom>
          <a:solidFill>
            <a:srgbClr val="122036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975396" y="2626156"/>
            <a:ext cx="416967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81685" y="2494483"/>
            <a:ext cx="0" cy="25018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09560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48472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75396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82635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11459" y="2621767"/>
            <a:ext cx="153619" cy="109728"/>
          </a:xfrm>
          <a:prstGeom prst="roundRect">
            <a:avLst>
              <a:gd name="adj" fmla="val 8000"/>
            </a:avLst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4069080"/>
            <a:ext cx="914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408BFF"/>
                </a:solidFill>
                <a:latin typeface="Cascadia Mono"/>
              </a:rPr>
              <a:t>SECTOR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2240280"/>
            <a:ext cx="1051560" cy="2148840"/>
          </a:xfrm>
          <a:prstGeom prst="roundRect">
            <a:avLst>
              <a:gd name="adj" fmla="val 8000"/>
            </a:avLst>
          </a:prstGeom>
          <a:solidFill>
            <a:srgbClr val="122036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118396" y="2626156"/>
            <a:ext cx="416967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24685" y="2494483"/>
            <a:ext cx="0" cy="25018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052560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1472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18396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25635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54459" y="2621767"/>
            <a:ext cx="153619" cy="109728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4069080"/>
            <a:ext cx="914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32CDDC"/>
                </a:solidFill>
                <a:latin typeface="Cascadia Mono"/>
              </a:rPr>
              <a:t>SECTOR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240280"/>
            <a:ext cx="1051560" cy="2148840"/>
          </a:xfrm>
          <a:prstGeom prst="roundRect">
            <a:avLst>
              <a:gd name="adj" fmla="val 8000"/>
            </a:avLst>
          </a:prstGeom>
          <a:solidFill>
            <a:srgbClr val="122036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0261396" y="2626156"/>
            <a:ext cx="416967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467685" y="2494483"/>
            <a:ext cx="0" cy="25018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195560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34472" y="2560320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61396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8635" y="2801721"/>
            <a:ext cx="96560" cy="52669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397459" y="2621767"/>
            <a:ext cx="153619" cy="109728"/>
          </a:xfrm>
          <a:prstGeom prst="roundRect">
            <a:avLst>
              <a:gd name="adj" fmla="val 8000"/>
            </a:avLst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2" y="4069080"/>
            <a:ext cx="914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A47DF1"/>
                </a:solidFill>
                <a:latin typeface="Cascadia Mono"/>
              </a:rPr>
              <a:t>SECTOR 3</a:t>
            </a:r>
          </a:p>
        </p:txBody>
      </p:sp>
      <p:sp>
        <p:nvSpPr>
          <p:cNvPr id="46" name="Oval 45"/>
          <p:cNvSpPr/>
          <p:nvPr/>
        </p:nvSpPr>
        <p:spPr>
          <a:xfrm>
            <a:off x="8001000" y="3657600"/>
            <a:ext cx="128016" cy="128016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35440" y="3200400"/>
            <a:ext cx="128016" cy="128016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24160" y="3794760"/>
            <a:ext cx="128016" cy="128016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8064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32CDDC"/>
                </a:solidFill>
                <a:latin typeface="Cascadia Mono"/>
              </a:rPr>
              <a:t>VEHICLE LOSS  →  REMAINING-AREA REALLOCATION  →  NO DUPLICATE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Pixel-to-Survivor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FramePacket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BOUNDED
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Drop-old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YOLO
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Person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TEMPORAL
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Multi-view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20574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2148840"/>
            <a:ext cx="14081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CANONICAL
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2450592"/>
            <a:ext cx="1408176" cy="7223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Registry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76272" y="2633472"/>
            <a:ext cx="164591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2285999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096512" y="2633472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420624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016752" y="2633472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12648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936992" y="2633472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04672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857232" y="2633472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96696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" y="406908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4069080"/>
            <a:ext cx="45720" cy="9601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4197096"/>
            <a:ext cx="2743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ENGINEERING GUARDRAIL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0560"/>
            <a:ext cx="274320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Bounded queues prevent unlimited frame backlog.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6280" y="406908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4069080"/>
            <a:ext cx="45720" cy="96012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0872" y="4197096"/>
            <a:ext cx="2743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MODEL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4480560"/>
            <a:ext cx="274320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Generic person detector is current baseline.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06908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069080"/>
            <a:ext cx="45720" cy="96012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197096"/>
            <a:ext cx="2743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HARDWARE 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4480560"/>
            <a:ext cx="274320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Monochrome can replicate to 3 channels for RGB-shaped models.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064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A1B4C2"/>
                </a:solidFill>
                <a:latin typeface="Cascadia Mono"/>
              </a:rPr>
              <a:t>ARCHITECTURE SUPPORTS A FUTURE CUSTOM SURVIVOR DETECTOR  •  NO FINAL PHYSICAL ACCURACY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POSE-AWARE GEOLOCATION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Detection ≠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4937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2F7FA"/>
                </a:solidFill>
                <a:latin typeface="Aptos"/>
              </a:rPr>
              <a:t>A bounding box is not a latitude / longitude.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4892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A1B4C2"/>
                </a:solidFill>
                <a:latin typeface="Aptos"/>
              </a:rPr>
              <a:t>The system projects a camera ray through the detected pixel and intersects it with the ground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4983480" cy="452628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766560" y="4983480"/>
            <a:ext cx="4206240" cy="0"/>
          </a:xfrm>
          <a:prstGeom prst="line">
            <a:avLst/>
          </a:prstGeom>
          <a:ln w="25400">
            <a:solidFill>
              <a:srgbClr val="F5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0" y="5120640"/>
            <a:ext cx="3840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GROUND PLANE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1737360"/>
            <a:ext cx="868680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25128" y="1463040"/>
            <a:ext cx="0" cy="521208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58200" y="160020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72600" y="160020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210312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10312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78824" y="1728216"/>
            <a:ext cx="320040" cy="22860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7909560" y="2194560"/>
            <a:ext cx="1014984" cy="278892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24544" y="2194560"/>
            <a:ext cx="813816" cy="278892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24544" y="2194560"/>
            <a:ext cx="146304" cy="278892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98280" y="1389888"/>
            <a:ext cx="1097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2F7FA"/>
                </a:solidFill>
                <a:latin typeface="Cascadia Mono"/>
              </a:rPr>
              <a:t>ALTITUDE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0" y="4507992"/>
            <a:ext cx="164592" cy="164592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4434840"/>
            <a:ext cx="1280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B534C"/>
                </a:solidFill>
                <a:latin typeface="Aptos"/>
              </a:rPr>
              <a:t>SURVIVOR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743200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269748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Camera intrinsics + lens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182112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136392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Pixel + mounting position / rotation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21024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575304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Drone position + altitude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059935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014215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Roll, pitch, yaw / quaternion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988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45312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2F7FA"/>
                </a:solidFill>
                <a:latin typeface="Aptos"/>
              </a:rPr>
              <a:t>Frame timestamp + ground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SPATIAL TRANSFORMS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Pixel → World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The transform chain is explicit, testable and quaternion-authoritative.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PIXEL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undistorted ray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624328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258568" y="255117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CAMERA OPTICAL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x right • y down • z forward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2624328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178808" y="255117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BODY FRD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x forward • y right • z down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2624328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6099048" y="255117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world navigation frame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9560" y="2624328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8019288" y="255117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7532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MISSION ENU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local map frame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29800" y="2624328"/>
            <a:ext cx="164592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9939528" y="255117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95560" y="2148840"/>
            <a:ext cx="1508760" cy="9601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8712" y="2240280"/>
            <a:ext cx="1362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WGS84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68712" y="2542032"/>
            <a:ext cx="136245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latitude / longitude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977639"/>
            <a:ext cx="102412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F2F7FA"/>
                </a:solidFill>
                <a:latin typeface="Cascadia Mono"/>
              </a:rPr>
              <a:t>T_world_camera  =  T_world_body  ×  T_body_camera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60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A1B4C2"/>
                </a:solidFill>
                <a:latin typeface="Aptos"/>
              </a:rPr>
              <a:t>pixel → camera ray → body ray → world ray → ground intersection → ENU → latitude / longitude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548640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495544"/>
            <a:ext cx="13258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QUATERNION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513832"/>
            <a:ext cx="3200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A1B4C2"/>
                </a:solidFill>
                <a:latin typeface="Aptos"/>
              </a:rPr>
              <a:t>internal 3D orientation authority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WIND /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Real Flight Disturbance Changes Geolocation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8412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F2F7FA"/>
                </a:solidFill>
                <a:latin typeface="Aptos"/>
              </a:rPr>
              <a:t>Wind is not a decorative animation.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8686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A1B4C2"/>
                </a:solidFill>
                <a:latin typeface="Aptos"/>
              </a:rPr>
              <a:t>Gazebo applies force. ArduPilot responds. The camera pose inherits the aircraft attitude.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WIND / GUST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ATTITUDE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5544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CAMERA
FOOTPRINT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4032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PIXEL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51008" y="27432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2834640"/>
            <a:ext cx="11338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COORDINATE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65960" y="3246120"/>
            <a:ext cx="146303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2057399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84448" y="3246120"/>
            <a:ext cx="14630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3675888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202936" y="3246120"/>
            <a:ext cx="14630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5294376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21424" y="3246120"/>
            <a:ext cx="14630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912864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439912" y="3246120"/>
            <a:ext cx="14630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531352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3246120"/>
            <a:ext cx="14630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10149840" y="317296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" y="46177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" y="4617720"/>
            <a:ext cx="45720" cy="914400"/>
          </a:xfrm>
          <a:prstGeom prst="rect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" y="4745736"/>
            <a:ext cx="4206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408BFF"/>
                </a:solidFill>
                <a:latin typeface="Cascadia Mono"/>
              </a:rPr>
              <a:t>CALM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5029200"/>
            <a:ext cx="4206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Stable footprint; smaller pose variation.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6177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617720"/>
            <a:ext cx="45720" cy="91440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745736"/>
            <a:ext cx="4206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CROSSWIND / GUST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029200"/>
            <a:ext cx="4206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Natural attitude response shifts the projected ray.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25312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F5A33E"/>
                </a:solidFill>
                <a:latin typeface="Cascadia Mono"/>
              </a:rPr>
              <a:t>PHYSICS STRESS TEST  /  EXTREME ~60° PEAK-TO-PEAK ATTITUDE VARIATION IS NOT REPRESENTATIVE FLIGHT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TIME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The Right Pose at the Right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8961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2F7FA"/>
                </a:solidFill>
                <a:latin typeface="Aptos"/>
              </a:rPr>
              <a:t>Using the latest pose can be wrong during rapid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CAMERA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42032"/>
            <a:ext cx="16824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capture at 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2651760"/>
            <a:ext cx="23774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770632" y="257860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21488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POSE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542032"/>
            <a:ext cx="16824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MAVLink samples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28032" y="2651760"/>
            <a:ext cx="23774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010912" y="257860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1488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CLOCK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542032"/>
            <a:ext cx="16824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simulation ↔ autopilot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8312" y="2651760"/>
            <a:ext cx="23774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251192" y="257860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21488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SLERP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542032"/>
            <a:ext cx="16824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quaternion interpolation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08592" y="2651760"/>
            <a:ext cx="237744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491472" y="2578608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6920" y="21488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POSE @ 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2542032"/>
            <a:ext cx="16824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accepted for geometry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>
                <a:solidFill>
                  <a:srgbClr val="F2F7FA"/>
                </a:solidFill>
                <a:latin typeface="Cascadia Mono"/>
              </a:rPr>
              <a:t>unmapped capture timestamp  →  REJECT GEOLOCATION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A33E"/>
                </a:solidFill>
                <a:latin typeface="Aptos"/>
              </a:rPr>
              <a:t>The current Phase-2 path fails closed instead of substituting frame receipt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532120"/>
            <a:ext cx="1143000" cy="256032"/>
          </a:xfrm>
          <a:prstGeom prst="roundRect">
            <a:avLst>
              <a:gd name="adj" fmla="val 8000"/>
            </a:avLst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5541264"/>
            <a:ext cx="11430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HONEST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559552"/>
            <a:ext cx="2743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A1B4C2"/>
                </a:solidFill>
                <a:latin typeface="Aptos"/>
              </a:rPr>
              <a:t>safety-oriented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GCS + SIMULATION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Spatial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7772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Two views of reality: autonomy estimate vs simulation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629400" cy="37033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1B4C2"/>
                </a:solidFill>
                <a:latin typeface="Cascadia Mono"/>
              </a:rPr>
              <a:t>3D MISSION 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4754880"/>
            <a:ext cx="576072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2743200"/>
            <a:ext cx="0" cy="201168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80160" y="2743200"/>
            <a:ext cx="5349240" cy="201168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03320" y="2606040"/>
            <a:ext cx="868680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2331720"/>
            <a:ext cx="0" cy="521208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66160" y="246888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246888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3320" y="297180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2971800"/>
            <a:ext cx="201168" cy="109728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86784" y="2596896"/>
            <a:ext cx="320040" cy="22860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3200400" y="3063240"/>
            <a:ext cx="914400" cy="169164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0" y="3063240"/>
            <a:ext cx="822960" cy="169164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864608" y="4389120"/>
            <a:ext cx="182880" cy="182880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352544"/>
            <a:ext cx="10972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EB534C"/>
                </a:solidFill>
                <a:latin typeface="Aptos"/>
              </a:rPr>
              <a:t>target 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83480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F5A33E"/>
                </a:solidFill>
                <a:latin typeface="Cascadia Mono"/>
              </a:rPr>
              <a:t>GROUND FOOTPRINT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182880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828800"/>
            <a:ext cx="45720" cy="105156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1956816"/>
            <a:ext cx="3566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VISUALIZES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240280"/>
            <a:ext cx="356616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Position • quaternion • paths • frustum • footprint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06324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3063240"/>
            <a:ext cx="45720" cy="105156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3191256"/>
            <a:ext cx="3566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EXPLAINS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3474720"/>
            <a:ext cx="356616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Target rays • uncertainty • sectors • deliveries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297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35240" y="4297680"/>
            <a:ext cx="45720" cy="105156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4425696"/>
            <a:ext cx="35661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REPLAYS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9831" y="4709160"/>
            <a:ext cx="356616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Mission timeline • engineering inspector • observer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9788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5BC984"/>
                </a:solidFill>
                <a:latin typeface="Cascadia Mono"/>
              </a:rPr>
              <a:t>0.000e+00 m  /  deterministic Python ↔ TypeScript spatial fixture discrepancy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High-Fidelity Closed-Loop Simulation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9875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A configurable digital test range for the full autonomy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SIM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2542032"/>
            <a:ext cx="168249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drone • camera •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488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GAZEBO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542032"/>
            <a:ext cx="168249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physics • wind •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1488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ARDUPILOT SITL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542032"/>
            <a:ext cx="168249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EKF • control • MAVLink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1488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RESCUESWARM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542032"/>
            <a:ext cx="168249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vision • mission • fleet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2240280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542032"/>
            <a:ext cx="168249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truth after prediction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2670048"/>
            <a:ext cx="274319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2779775" y="259689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800600" y="2670048"/>
            <a:ext cx="27432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020056" y="259689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040880" y="2670048"/>
            <a:ext cx="27432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260336" y="259689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281160" y="2670048"/>
            <a:ext cx="27432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500616" y="2596896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4069080"/>
            <a:ext cx="3246120" cy="10058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069080"/>
            <a:ext cx="45720" cy="1005840"/>
          </a:xfrm>
          <a:prstGeom prst="rect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19709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408BFF"/>
                </a:solidFill>
                <a:latin typeface="Cascadia Mono"/>
              </a:rPr>
              <a:t>DRONE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480560"/>
            <a:ext cx="2971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Frame • mass • payload • speed • inertia / drag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4069080"/>
            <a:ext cx="3246120" cy="10058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4069080"/>
            <a:ext cx="45720" cy="100584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419709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CAMERA 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480560"/>
            <a:ext cx="2971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Resolution • FPS • FOV • mount • latency / noise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069080"/>
            <a:ext cx="3246120" cy="10058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4069080"/>
            <a:ext cx="45720" cy="100584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1" y="419709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ENVIRONMENT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4480560"/>
            <a:ext cx="2971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Wind • gusts • lighting • origin • hidden targets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97880"/>
            <a:ext cx="10698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A1B4C2"/>
                </a:solidFill>
                <a:latin typeface="Cascadia Mono"/>
              </a:rPr>
              <a:t>Gazebo Harmonic  /  gz-sim 8.15.0  /  official ardupilot_gazebo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SIMULATION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No Ground-Truth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F2F7FA"/>
                </a:solidFill>
                <a:latin typeface="Aptos"/>
              </a:rPr>
              <a:t>The simulator knows the answer. Autonomy does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4389120" cy="28803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F5A33E"/>
                </a:solidFill>
                <a:latin typeface="Cascadia Mono"/>
              </a:rPr>
              <a:t>SIMULATOR KNOWS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69748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651760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Actual survivor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136392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090672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True aircraft 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75304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529584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True wind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014216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968496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Rendered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965960"/>
            <a:ext cx="4389120" cy="28803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24028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32CDDC"/>
                </a:solidFill>
                <a:latin typeface="Cascadia Mono"/>
              </a:rPr>
              <a:t>AUTONOMY KNOWS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97480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2651760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Camera pixels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136392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3090672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MAVLink / EKF 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3575304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3529584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Detector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4014216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2" y="3968496"/>
            <a:ext cx="33832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2F7FA"/>
                </a:solidFill>
                <a:latin typeface="Aptos"/>
              </a:rPr>
              <a:t>Mission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85232" y="2542032"/>
            <a:ext cx="1572768" cy="1737360"/>
          </a:xfrm>
          <a:prstGeom prst="roundRect">
            <a:avLst>
              <a:gd name="adj" fmla="val 8000"/>
            </a:avLst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2944368"/>
            <a:ext cx="1325880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2F7FA"/>
                </a:solidFill>
                <a:latin typeface="Aptos"/>
              </a:rPr>
              <a:t>TRUTH
FIREWALL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5BC984"/>
                </a:solidFill>
                <a:latin typeface="Aptos"/>
              </a:rPr>
              <a:t>Ground truth is used only after prediction for scoring / evaluation.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PIXEL-ONLY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What the Virtual Drone Actually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9875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Rendered pixels first. Evaluation truth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6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A1B4C2"/>
                </a:solidFill>
                <a:latin typeface="Cascadia Mono"/>
              </a:rPr>
              <a:t>NO PERSON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971800"/>
            <a:ext cx="12801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23744" y="2633472"/>
            <a:ext cx="182879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651759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19202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048256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408BFF"/>
                </a:solidFill>
                <a:latin typeface="Cascadia Mono"/>
              </a:rPr>
              <a:t>EDGE ENTRY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2971800"/>
            <a:ext cx="12801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85032" y="2377440"/>
            <a:ext cx="256032" cy="457200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764024" y="2633472"/>
            <a:ext cx="18288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89204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19202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2048256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32CDDC"/>
                </a:solidFill>
                <a:latin typeface="Cascadia Mono"/>
              </a:rPr>
              <a:t>VISIBLE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2971800"/>
            <a:ext cx="12801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25312" y="2377440"/>
            <a:ext cx="256032" cy="457200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004304" y="2633472"/>
            <a:ext cx="18288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13232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19202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2048256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A47DF1"/>
                </a:solidFill>
                <a:latin typeface="Cascadia Mono"/>
              </a:rPr>
              <a:t>YOLO BOX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35240" y="2971800"/>
            <a:ext cx="12801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165592" y="2377440"/>
            <a:ext cx="256032" cy="457200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2240280"/>
            <a:ext cx="594360" cy="822960"/>
          </a:xfrm>
          <a:prstGeom prst="rect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244584" y="2633472"/>
            <a:ext cx="182880" cy="0"/>
          </a:xfrm>
          <a:prstGeom prst="line">
            <a:avLst/>
          </a:prstGeom>
          <a:ln w="25400">
            <a:solidFill>
              <a:srgbClr val="A1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9372600" y="2560320"/>
            <a:ext cx="164592" cy="146304"/>
          </a:xfrm>
          <a:prstGeom prst="triangle">
            <a:avLst/>
          </a:prstGeom>
          <a:solidFill>
            <a:srgbClr val="A1B4C2"/>
          </a:solidFill>
          <a:ln>
            <a:solidFill>
              <a:srgbClr val="A1B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0" y="19202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2048256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5BC984"/>
                </a:solidFill>
                <a:latin typeface="Cascadia Mono"/>
              </a:rPr>
              <a:t>CONFIRMED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75520" y="2971800"/>
            <a:ext cx="12801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405872" y="2377440"/>
            <a:ext cx="256032" cy="457200"/>
          </a:xfrm>
          <a:prstGeom prst="ellipse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886200"/>
            <a:ext cx="10241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A1B4C2"/>
                </a:solidFill>
                <a:latin typeface="Aptos"/>
              </a:rPr>
              <a:t>Hidden 3D survivor → rendered camera → YOLO11n ONNX → bbox → confirmation → geolocation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43484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434840"/>
            <a:ext cx="45720" cy="105156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456285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SIMULATION DEV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484632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TP 63 • FP 3 • FN 438
Conditional precision 0.9545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443484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4434840"/>
            <a:ext cx="45720" cy="105156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1" y="456285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BOUNDING BOX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1" y="484632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P50 IoU 0.5762
P95 IoU 0.6879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443484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4434840"/>
            <a:ext cx="45720" cy="1051560"/>
          </a:xfrm>
          <a:prstGeom prst="rect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1" y="456285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B534C"/>
                </a:solidFill>
                <a:latin typeface="Cascadia Mono"/>
              </a:rPr>
              <a:t>QUALIFICATION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1" y="484632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Phase 2 remains under qualification
frame-time chain incomplete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97880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1">
                <a:solidFill>
                  <a:srgbClr val="F5A33E"/>
                </a:solidFill>
                <a:latin typeface="Cascadia Mono"/>
              </a:rPr>
              <a:t>NOT FINAL REAL-WORLD DETECTOR ACCURACY  •  model SHA256: 417c59a7…6f2a5e2d  •  threshold 0.25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VERIFIED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Software 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97840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Software verified. Counts evolve as development progresses.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45720" cy="14173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56816"/>
            <a:ext cx="21945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PRIMARY STAGE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31136"/>
            <a:ext cx="219456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328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61488"/>
            <a:ext cx="2194560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328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828800"/>
            <a:ext cx="45720" cy="14173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1945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LATEST 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231136"/>
            <a:ext cx="219456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371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761488"/>
            <a:ext cx="2194560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371 combined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8288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828800"/>
            <a:ext cx="45720" cy="1417320"/>
          </a:xfrm>
          <a:prstGeom prst="rect">
            <a:avLst/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956816"/>
            <a:ext cx="21945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5A33E"/>
                </a:solidFill>
                <a:latin typeface="Cascadia Mono"/>
              </a:rPr>
              <a:t>INTENTIONAL SKIPS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231136"/>
            <a:ext cx="219456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761488"/>
            <a:ext cx="2194560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18288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1828800"/>
            <a:ext cx="45720" cy="141732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1956816"/>
            <a:ext cx="21945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SPATIAL FIXTURE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2231136"/>
            <a:ext cx="219456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0.000e+00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2761488"/>
            <a:ext cx="2194560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0.000e+00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401568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A1B4C2"/>
                </a:solidFill>
                <a:latin typeface="Cascadia Mono"/>
              </a:rPr>
              <a:t>Python 335 passed / 9 skipped  •  Frontend 36 passed  •  Combined 371 passed / 9 skipped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88620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886200"/>
            <a:ext cx="45720" cy="105156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01421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29768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PASS • zero external runtime dependencies in qualified GCS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88620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886200"/>
            <a:ext cx="45720" cy="105156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401421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1" y="429768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Production frontend build 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388620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3886200"/>
            <a:ext cx="45720" cy="105156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4014215"/>
            <a:ext cx="3063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DISPLAY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297680"/>
            <a:ext cx="306324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1366×768 • 1536×864 • 1920×1080 • 125% zoom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06440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5BC984"/>
                </a:solidFill>
                <a:latin typeface="Cascadia Mono"/>
              </a:rPr>
              <a:t>DETERMINISTIC REPLAY PASS  •  COMPETITION MODE RESTRICTIONS PASS  •  ZERO HORIZONTAL OVERFLOW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SITL / SOFTWARE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Multi-Drone Qualification in ArduPilot SITL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10058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Competition-scale software rehearsal, not physical flight.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45720" cy="1234440"/>
          </a:xfrm>
          <a:prstGeom prst="rect">
            <a:avLst/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56816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408BFF"/>
                </a:solidFill>
                <a:latin typeface="Cascadia Mono"/>
              </a:rPr>
              <a:t>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31136"/>
            <a:ext cx="178308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61488"/>
            <a:ext cx="1783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1828800"/>
            <a:ext cx="45720" cy="123444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1956816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DELIVERIES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231136"/>
            <a:ext cx="178308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761488"/>
            <a:ext cx="1783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18288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1828800"/>
            <a:ext cx="45720" cy="123444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1956816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231136"/>
            <a:ext cx="178308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99.7453%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761488"/>
            <a:ext cx="1783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99.7453%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45720" cy="123444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1956816"/>
            <a:ext cx="17830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INTERVENTIONS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2231136"/>
            <a:ext cx="178308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2761488"/>
            <a:ext cx="1783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82880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1828800"/>
            <a:ext cx="45720" cy="123444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1956816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231136"/>
            <a:ext cx="155448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F2F7FA"/>
                </a:solidFill>
                <a:latin typeface="Aptos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276148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273552"/>
            <a:ext cx="10698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A1B4C2"/>
                </a:solidFill>
                <a:latin typeface="Cascadia Mono"/>
              </a:rPr>
              <a:t>4 synthetic survivor targets • fleet distance 669.67 m • both vehicles RTL / landed / disarmed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9476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94760"/>
            <a:ext cx="45720" cy="109728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92277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206240"/>
            <a:ext cx="2971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99,584.34 m² ≈ 9.9584 ha boundary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379476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80560" y="3794760"/>
            <a:ext cx="45720" cy="1097280"/>
          </a:xfrm>
          <a:prstGeom prst="rect">
            <a:avLst/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392277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A47DF1"/>
                </a:solidFill>
                <a:latin typeface="Cascadia Mono"/>
              </a:rPr>
              <a:t>REGISTRY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4206240"/>
            <a:ext cx="2971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10-survivor registry PASS
3-vehicle smoke test PASS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79476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794760"/>
            <a:ext cx="45720" cy="1097280"/>
          </a:xfrm>
          <a:prstGeom prst="rect">
            <a:avLst/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3922776"/>
            <a:ext cx="2971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C984"/>
                </a:solidFill>
                <a:latin typeface="Cascadia Mono"/>
              </a:rPr>
              <a:t>RECOVERY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4206240"/>
            <a:ext cx="2971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Duplicate prevention PASS
Vehicle-loss reallocation 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06440"/>
            <a:ext cx="10698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F5A33E"/>
                </a:solidFill>
                <a:latin typeface="Cascadia Mono"/>
              </a:rPr>
              <a:t>ARDUPILOT SITL  /  ArduCopter 4.8.0 DEV  /  commit af2a1baf…78d11a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GCS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One Operator — Complete Mission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97840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A single local control surface for setup, supervision and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789920" cy="37947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075688"/>
            <a:ext cx="10332720" cy="4114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76272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MISSION STATUS  /  FLEET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76272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F2F7FA"/>
                </a:solidFill>
                <a:latin typeface="Cascadia Mono"/>
              </a:rPr>
              <a:t>T+ 08:42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6583680" cy="2240280"/>
          </a:xfrm>
          <a:prstGeom prst="roundRect">
            <a:avLst>
              <a:gd name="adj" fmla="val 8000"/>
            </a:avLst>
          </a:prstGeom>
          <a:solidFill>
            <a:srgbClr val="0E1C2F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A1B4C2"/>
                </a:solidFill>
                <a:latin typeface="Cascadia Mono"/>
              </a:rPr>
              <a:t>2D / 3D MISSION 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246120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3520439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" y="3794759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" y="4069079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7280" y="4343400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" y="4617720"/>
            <a:ext cx="6080760" cy="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8016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1168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0624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3776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928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3108960"/>
            <a:ext cx="0" cy="1645920"/>
          </a:xfrm>
          <a:prstGeom prst="line">
            <a:avLst/>
          </a:prstGeom>
          <a:ln w="127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04238" y="3915918"/>
            <a:ext cx="477774" cy="0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40610" y="3765042"/>
            <a:ext cx="0" cy="286664"/>
          </a:xfrm>
          <a:prstGeom prst="line">
            <a:avLst/>
          </a:prstGeom>
          <a:ln w="25400">
            <a:solidFill>
              <a:srgbClr val="40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828800" y="384048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31720" y="384048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04238" y="411708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56282" y="411708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60143" y="3910888"/>
            <a:ext cx="176022" cy="125730"/>
          </a:xfrm>
          <a:prstGeom prst="roundRect">
            <a:avLst>
              <a:gd name="adj" fmla="val 8000"/>
            </a:avLst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915918" y="3458718"/>
            <a:ext cx="477774" cy="0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52290" y="3307842"/>
            <a:ext cx="0" cy="286664"/>
          </a:xfrm>
          <a:prstGeom prst="line">
            <a:avLst/>
          </a:prstGeom>
          <a:ln w="25400">
            <a:solidFill>
              <a:srgbClr val="32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840480" y="338328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43400" y="338328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15918" y="365988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67962" y="365988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071823" y="3453688"/>
            <a:ext cx="176022" cy="12573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27598" y="4190237"/>
            <a:ext cx="477774" cy="0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63970" y="4039362"/>
            <a:ext cx="0" cy="286664"/>
          </a:xfrm>
          <a:prstGeom prst="line">
            <a:avLst/>
          </a:prstGeom>
          <a:ln w="25400">
            <a:solidFill>
              <a:srgbClr val="A47D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852160" y="411480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55080" y="4114800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27598" y="439140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79642" y="4391406"/>
            <a:ext cx="110642" cy="60350"/>
          </a:xfrm>
          <a:prstGeom prst="ellipse">
            <a:avLst/>
          </a:prstGeom>
          <a:solidFill>
            <a:srgbClr val="09101C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83503" y="4185208"/>
            <a:ext cx="176022" cy="125730"/>
          </a:xfrm>
          <a:prstGeom prst="roundRect">
            <a:avLst>
              <a:gd name="adj" fmla="val 8000"/>
            </a:avLst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0" y="2697480"/>
            <a:ext cx="3246120" cy="22402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2880360"/>
            <a:ext cx="2560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A1B4C2"/>
                </a:solidFill>
                <a:latin typeface="Cascadia Mono"/>
              </a:rPr>
              <a:t>FLEET / TARGET CARDS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3246120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3200400"/>
            <a:ext cx="237743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DRONE 01  SEARCH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3611879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65592" y="3566160"/>
            <a:ext cx="237743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DRONE 02  DELIVER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01000" y="3977639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65592" y="3931920"/>
            <a:ext cx="237743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TARGET 04  CONFIRMED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01000" y="4343400"/>
            <a:ext cx="73152" cy="7315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4297680"/>
            <a:ext cx="237743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PAYLOAD  3 /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5212080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32CDDC"/>
                </a:solidFill>
                <a:latin typeface="Cascadia Mono"/>
              </a:rPr>
              <a:t>SETUP   MISSION   SIMULATION   ENGINEERING   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SAFETY +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Built for Safety and Infrastructure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45720" cy="3566160"/>
          </a:xfrm>
          <a:prstGeom prst="rect">
            <a:avLst/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91056"/>
            <a:ext cx="4800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B534C"/>
                </a:solidFill>
                <a:latin typeface="Cascadia Mono"/>
              </a:rPr>
              <a:t>SAFETY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20"/>
            <a:ext cx="4800600" cy="3035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Native ArduPilot RTL / LAND respected
Geofence integration
Emergency recall + safety abort
Health freshness + stale telemetry
Bounded queues + durable mission events
Recovery after service restart
Critical-failure target / drop gating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6304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463040"/>
            <a:ext cx="45720" cy="356616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591056"/>
            <a:ext cx="4800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Cascadia Mono"/>
              </a:rPr>
              <a:t>OFFLINE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1874520"/>
            <a:ext cx="4800600" cy="3035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1B4C2"/>
                </a:solidFill>
                <a:latin typeface="Aptos"/>
              </a:rPr>
              <a:t>Local network only
No cloud inference
No GSM / LTE / 5G dependency
No public Wi-Fi
Locally bundled frontend assets
Local database
Offline runtime compliance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5A33E"/>
                </a:solidFill>
                <a:latin typeface="Cascadia Mono"/>
              </a:rPr>
              <a:t>COMPETITION MODE  /  allowed controls: mission load, START, safety abort, emergency recall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PHYSICAL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Hardware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8686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The hardware path is defined. Physical validation is still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2368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AIRBORNE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13432"/>
            <a:ext cx="2368296" cy="44805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Raspberry Pi 5 • OV9281 mono global shutter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92024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011680"/>
            <a:ext cx="2368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313432"/>
            <a:ext cx="2368296" cy="44805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Pixhawk 2.4.8 • ArduCopter • M8N-class GNSS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246120"/>
            <a:ext cx="2368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547872"/>
            <a:ext cx="2368296" cy="44805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Raspberry Pi 4 • local GCS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15468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8273A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246120"/>
            <a:ext cx="2368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2F7FA"/>
                </a:solidFill>
                <a:latin typeface="Aptos"/>
              </a:rPr>
              <a:t>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547872"/>
            <a:ext cx="2368296" cy="44805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A1B4C2"/>
                </a:solidFill>
                <a:latin typeface="Aptos"/>
              </a:rPr>
              <a:t>Emergency kit mechanism • custom airframe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645920"/>
            <a:ext cx="4526280" cy="3291840"/>
          </a:xfrm>
          <a:prstGeom prst="roundRect">
            <a:avLst>
              <a:gd name="adj" fmla="val 8000"/>
            </a:avLst>
          </a:prstGeom>
          <a:solidFill>
            <a:srgbClr val="121E2E"/>
          </a:solidFill>
          <a:ln>
            <a:solidFill>
              <a:srgbClr val="2F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20240"/>
            <a:ext cx="3840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F5A33E"/>
                </a:solidFill>
                <a:latin typeface="Cascadia Mono"/>
              </a:rPr>
              <a:t>CURRENT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2395728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404872"/>
            <a:ext cx="13258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423160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release candidate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97180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980944"/>
            <a:ext cx="13258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999232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high-fidelity active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3547872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557015"/>
            <a:ext cx="132588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PHYSICAL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75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2F7FA"/>
                </a:solidFill>
                <a:latin typeface="Aptos"/>
              </a:rPr>
              <a:t>pending / diagnosis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406908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1" y="402336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F2F7FA"/>
                </a:solidFill>
                <a:latin typeface="Aptos"/>
              </a:rPr>
              <a:t>Battery packs / safe power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434340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2631" y="429768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F2F7FA"/>
                </a:solidFill>
                <a:latin typeface="Aptos"/>
              </a:rPr>
              <a:t>OV9281 hardware troubleshooting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461772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1" y="45720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F2F7FA"/>
                </a:solidFill>
                <a:latin typeface="Aptos"/>
              </a:rPr>
              <a:t>Pixhawk / M8N validation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89204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42631" y="484632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F2F7FA"/>
                </a:solidFill>
                <a:latin typeface="Aptos"/>
              </a:rPr>
              <a:t>Camera calibration + payload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5166360"/>
            <a:ext cx="73152" cy="7315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512064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F2F7FA"/>
                </a:solidFill>
                <a:latin typeface="Aptos"/>
              </a:rPr>
              <a:t>Real flight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97880"/>
            <a:ext cx="10698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5A33E"/>
                </a:solidFill>
                <a:latin typeface="Cascadia Mono"/>
              </a:rPr>
              <a:t>PENDING ≠ FAILED  •  no physical-flight or payload-delivery claim is made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VALIDATION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From Digital Twin to Physical Rescue 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10058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2F7FA"/>
                </a:solidFill>
                <a:latin typeface="Aptos"/>
              </a:rPr>
              <a:t>Progression is gated by evidence, not by optimism.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64592" cy="502920"/>
          </a:xfrm>
          <a:prstGeom prst="roundRect">
            <a:avLst>
              <a:gd name="adj" fmla="val 8000"/>
            </a:avLst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1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C984"/>
                </a:solidFill>
                <a:latin typeface="Cascadia Mono"/>
              </a:rP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56231"/>
            <a:ext cx="8503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F2F7FA"/>
                </a:solidFill>
                <a:latin typeface="Aptos"/>
              </a:rPr>
              <a:t>Core architecture • planning • single-drone autonomy • fleet SITL • GCS • 3D twin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64592" cy="502920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79191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32CDDC"/>
                </a:solidFill>
                <a:latin typeface="Cascadia Mono"/>
              </a:rPr>
              <a:t>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79191"/>
            <a:ext cx="8503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F2F7FA"/>
                </a:solidFill>
                <a:latin typeface="Aptos"/>
              </a:rPr>
              <a:t>Pixel-only perception integration • high-fidelity Gazebo physics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64592" cy="502920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02151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F5A33E"/>
                </a:solidFill>
                <a:latin typeface="Cascadia Mono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02151"/>
            <a:ext cx="8503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F2F7FA"/>
                </a:solidFill>
                <a:latin typeface="Aptos"/>
              </a:rPr>
              <a:t>Frame-time mapping • sensor-noise realism • full simulated rescue 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64592" cy="502920"/>
          </a:xfrm>
          <a:prstGeom prst="roundRect">
            <a:avLst>
              <a:gd name="adj" fmla="val 8000"/>
            </a:avLst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EB534C"/>
                </a:solidFill>
                <a:latin typeface="Cascadia Mono"/>
              </a:rPr>
              <a:t>HARDWARE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325112"/>
            <a:ext cx="8503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F2F7FA"/>
                </a:solidFill>
                <a:latin typeface="Aptos"/>
              </a:rPr>
              <a:t>Camera calibration • physical geolocation • payload • real multi-drone flight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" y="2331720"/>
            <a:ext cx="0" cy="2743200"/>
          </a:xfrm>
          <a:prstGeom prst="line">
            <a:avLst/>
          </a:prstGeom>
          <a:ln w="25400">
            <a:solidFill>
              <a:srgbClr val="2F4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80644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2F7FA"/>
                </a:solidFill>
                <a:latin typeface="Aptos"/>
              </a:rPr>
              <a:t>RescueSwarm is designed not merely to detect survivors — but to autonomously search, locate, coordinate, deliver aid and safely complete the mission.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C"/>
          </a:solidFill>
          <a:ln>
            <a:solidFill>
              <a:srgbClr val="09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47472"/>
            <a:ext cx="54864" cy="502920"/>
          </a:xfrm>
          <a:prstGeom prst="rect">
            <a:avLst/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32CDDC"/>
                </a:solidFill>
                <a:latin typeface="Aptos"/>
              </a:rPr>
              <a:t>CLOSING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F2F7FA"/>
                </a:solidFill>
                <a:latin typeface="Aptos"/>
              </a:rPr>
              <a:t>RescueSwarm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1">
                <a:solidFill>
                  <a:srgbClr val="A1B4C2"/>
                </a:solidFill>
                <a:latin typeface="Cascadia Mono"/>
              </a:rPr>
              <a:t>RESCUESWARM  /  AUTONOMOUS 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A1B4C2"/>
                </a:solidFill>
                <a:latin typeface="Cascadia Mono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100" b="1">
                <a:solidFill>
                  <a:srgbClr val="F2F7FA"/>
                </a:solidFill>
                <a:latin typeface="Aptos"/>
              </a:rPr>
              <a:t>Autonomous Intelligence
for Faster Emergency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32CDDC"/>
                </a:solidFill>
                <a:latin typeface="Cascadia Mono"/>
              </a:rPr>
              <a:t>Search. Detect. Locate. Deliver. Return.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32CDDC"/>
          </a:solidFill>
          <a:ln>
            <a:solidFill>
              <a:srgbClr val="32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AUTONOMOUS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408BFF"/>
          </a:solidFill>
          <a:ln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COLLABORATIVE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5BC984"/>
          </a:solidFill>
          <a:ln>
            <a:solidFill>
              <a:srgbClr val="5B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A47DF1"/>
          </a:solidFill>
          <a:ln>
            <a:solidFill>
              <a:srgbClr val="A47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POSE-AWARE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F5A33E"/>
          </a:solidFill>
          <a:ln>
            <a:solidFill>
              <a:srgbClr val="F5A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VISION-DRIVEN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40690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EB534C"/>
          </a:solidFill>
          <a:ln>
            <a:solidFill>
              <a:srgbClr val="EB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407822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1">
                <a:solidFill>
                  <a:srgbClr val="09101C"/>
                </a:solidFill>
                <a:latin typeface="Aptos"/>
              </a:rPr>
              <a:t>SAFETY-ORIENTED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5A33E"/>
                </a:solidFill>
                <a:latin typeface="Cascadia Mono"/>
              </a:rPr>
              <a:t>SOFTWARE VERIFIED  •  SITL / GAZEBO SIMULATION VERIFIED  •  PHYSICAL HARDWARE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RescueSwarm — Autonomous Multi-Drone Search and Emergency Kit Delivery</dc:title>
  <dc:subject>Competition presentation; software/SITL verified, physical hardware pending</dc:subject>
  <dc:creator>RescueSwarm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